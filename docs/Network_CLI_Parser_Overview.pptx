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937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F2937"/>
                </a:solidFill>
                <a:latin typeface="Calibri"/>
              </a:rPr>
              <a:t>157 registered commands by strategy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Strategy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0B981"/>
              </a:solidFill>
              <a:effectLst/>
            </c:spPr>
          </c:dPt>
          <c:dPt>
            <c:idx val="1"/>
            <c:bubble3D val="0"/>
            <c:spPr>
              <a:solidFill>
                <a:srgbClr val="3B82F6"/>
              </a:solidFill>
              <a:effectLst/>
            </c:spPr>
          </c:dPt>
          <c:dPt>
            <c:idx val="2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bubble3D val="0"/>
            <c:spPr>
              <a:solidFill>
                <a:srgbClr val="94A3B8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TTP</c:v>
                </c:pt>
                <c:pt idx="1">
                  <c:v>NTC</c:v>
                </c:pt>
                <c:pt idx="2">
                  <c:v>TextFSM (custom)</c:v>
                </c:pt>
                <c:pt idx="3">
                  <c:v>raw_only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115</c:v>
                </c:pt>
                <c:pt idx="1">
                  <c:v>31</c:v>
                </c:pt>
                <c:pt idx="2">
                  <c:v>5</c:v>
                </c:pt>
                <c:pt idx="3">
                  <c:v>6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Templates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Multicast (mroute, PIM, MSDP, IGMP)</c:v>
                  </c:pt>
                  <c:pt idx="1">
                    <c:v>EIGRP / OSPF / IS-IS</c:v>
                  </c:pt>
                  <c:pt idx="2">
                    <c:v>STP &amp; switching L2</c:v>
                  </c:pt>
                  <c:pt idx="3">
                    <c:v>FHRP (HSRP, VRRP, GLBP)</c:v>
                  </c:pt>
                  <c:pt idx="4">
                    <c:v>vPC / LACP / EtherChannel</c:v>
                  </c:pt>
                  <c:pt idx="5">
                    <c:v>BGP neighbor sub-commands</c:v>
                  </c:pt>
                  <c:pt idx="6">
                    <c:v>Routing (legacy)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32</c:v>
                </c:pt>
                <c:pt idx="1">
                  <c:v>25</c:v>
                </c:pt>
                <c:pt idx="2">
                  <c:v>24</c:v>
                </c:pt>
                <c:pt idx="3">
                  <c:v>13</c:v>
                </c:pt>
                <c:pt idx="4">
                  <c:v>12</c:v>
                </c:pt>
                <c:pt idx="5">
                  <c:v>7</c:v>
                </c:pt>
                <c:pt idx="6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F29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Overview deck covering what the toolchain does, how much it covers, how health checks and reports work, and everything done in this session: new templates, the audit, the fixes, and lessons learned.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18872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" y="118872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16736" y="118872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09344" y="118872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01952" y="1188720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92024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CLI Parser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9718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Toolchain overview, template coverage, health checks — and a full correctness audit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5120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 NX-OS · IOS · IOS-XE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5532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  ·  omi23484/checklist-project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48640" y="566928"/>
            <a:ext cx="182880" cy="1828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36576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92024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2011680" y="199339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2011680" y="25146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Pipeline, parser dispatch, commands.yaml, wildcards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72200" y="1645920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92240" y="192024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7635240" y="199339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635240" y="25146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157 commands, 115 TTP templates, gap analysis vs. a full audit tool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420624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2011680" y="427939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&amp; reports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2011680" y="48006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conditions, 11 check features, 6 HTML report types, automation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172200" y="3931920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92240" y="420624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4000" dirty="0"/>
          </a:p>
        </p:txBody>
      </p:sp>
      <p:sp>
        <p:nvSpPr>
          <p:cNvPr id="19" name="Text 17"/>
          <p:cNvSpPr txBox="1"/>
          <p:nvPr/>
        </p:nvSpPr>
        <p:spPr>
          <a:xfrm>
            <a:off x="7635240" y="427939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session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7635240" y="48006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built, the audit, 20+ fixes, regressions caught, lessons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48640" y="566928"/>
            <a:ext cx="182880" cy="1828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36576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does, end to end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9601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CLI text in → structured JSON snapshots → assertions, diffs and reports out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1691640" cy="2103120"/>
          </a:xfrm>
          <a:prstGeom prst="roundRect">
            <a:avLst>
              <a:gd name="adj" fmla="val 6486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286000"/>
            <a:ext cx="146304" cy="146304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5146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017520"/>
            <a:ext cx="1417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fetch_logs.py (SFTP)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report.py collect (SSH / offline)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267712" y="2971800"/>
            <a:ext cx="146304" cy="18288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41448" y="2011680"/>
            <a:ext cx="1691640" cy="2103120"/>
          </a:xfrm>
          <a:prstGeom prst="roundRect">
            <a:avLst>
              <a:gd name="adj" fmla="val 6486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24328" y="2286000"/>
            <a:ext cx="146304" cy="146304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624328" y="25146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2624328" y="3017520"/>
            <a:ext cx="1417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splitter.py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block per command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160520" y="2971800"/>
            <a:ext cx="146304" cy="18288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34256" y="2011680"/>
            <a:ext cx="1691640" cy="2103120"/>
          </a:xfrm>
          <a:prstGeom prst="roundRect">
            <a:avLst>
              <a:gd name="adj" fmla="val 6486"/>
            </a:avLst>
          </a:prstGeom>
          <a:solidFill>
            <a:srgbClr val="E7F8F1"/>
          </a:solidFill>
          <a:ln w="12700">
            <a:solidFill>
              <a:srgbClr val="E7F8F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17136" y="2286000"/>
            <a:ext cx="146304" cy="14630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17136" y="25146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4517136" y="3017520"/>
            <a:ext cx="1417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commands.yaml →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NTC · TextFSM · TTP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053328" y="2971800"/>
            <a:ext cx="146304" cy="18288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27064" y="2011680"/>
            <a:ext cx="1691640" cy="2103120"/>
          </a:xfrm>
          <a:prstGeom prst="roundRect">
            <a:avLst>
              <a:gd name="adj" fmla="val 6486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9944" y="2286000"/>
            <a:ext cx="146304" cy="146304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9944" y="25146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</a:t>
            </a:r>
            <a:endParaRPr lang="en-US" sz="1900" dirty="0"/>
          </a:p>
        </p:txBody>
      </p:sp>
      <p:sp>
        <p:nvSpPr>
          <p:cNvPr id="24" name="Text 22"/>
          <p:cNvSpPr txBox="1"/>
          <p:nvPr/>
        </p:nvSpPr>
        <p:spPr>
          <a:xfrm>
            <a:off x="6409944" y="3017520"/>
            <a:ext cx="1417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main.py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JSON per device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946136" y="2971800"/>
            <a:ext cx="146304" cy="18288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19872" y="2011680"/>
            <a:ext cx="1691640" cy="2103120"/>
          </a:xfrm>
          <a:prstGeom prst="roundRect">
            <a:avLst>
              <a:gd name="adj" fmla="val 6486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302752" y="2286000"/>
            <a:ext cx="146304" cy="146304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302752" y="25146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</a:t>
            </a:r>
            <a:endParaRPr lang="en-US" sz="1900" dirty="0"/>
          </a:p>
        </p:txBody>
      </p:sp>
      <p:sp>
        <p:nvSpPr>
          <p:cNvPr id="29" name="Text 27"/>
          <p:cNvSpPr txBox="1"/>
          <p:nvPr/>
        </p:nvSpPr>
        <p:spPr>
          <a:xfrm>
            <a:off x="8302752" y="3017520"/>
            <a:ext cx="1417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· delta · trend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diff · search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9838944" y="2971800"/>
            <a:ext cx="146304" cy="18288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012680" y="2011680"/>
            <a:ext cx="1691640" cy="2103120"/>
          </a:xfrm>
          <a:prstGeom prst="roundRect">
            <a:avLst>
              <a:gd name="adj" fmla="val 6486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195560" y="2286000"/>
            <a:ext cx="146304" cy="146304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0195560" y="25146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900" dirty="0"/>
          </a:p>
        </p:txBody>
      </p:sp>
      <p:sp>
        <p:nvSpPr>
          <p:cNvPr id="34" name="Text 32"/>
          <p:cNvSpPr txBox="1"/>
          <p:nvPr/>
        </p:nvSpPr>
        <p:spPr>
          <a:xfrm>
            <a:off x="10195560" y="3017520"/>
            <a:ext cx="1417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JSON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exit codes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548640" y="457200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68680" y="4754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868680" y="512064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playbook.py runs the whole chain from a CSV: ordered steps, enable/disable, date variables ({date}, {yesterday}), continue-on-error, and on_failure hooks — so a daily fetch → parse → health → diff run is one command.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numbers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5544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157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560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commands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9260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NX-OS · 51 IOS · 54 IOS-XE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434840" y="15544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</a:t>
            </a:r>
            <a:endParaRPr lang="en-US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4434840" y="2560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TTP templates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434840" y="29260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 TextFSM · plus NTC library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138160" y="15544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600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2560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conditions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8138160" y="29260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comparison, regex, duration, date…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393192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60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4937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subcommands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5303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health, delta, trend, search…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434840" y="393192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6000" dirty="0"/>
          </a:p>
        </p:txBody>
      </p:sp>
      <p:sp>
        <p:nvSpPr>
          <p:cNvPr id="16" name="Text 14"/>
          <p:cNvSpPr txBox="1"/>
          <p:nvPr/>
        </p:nvSpPr>
        <p:spPr>
          <a:xfrm>
            <a:off x="4434840" y="4937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4434840" y="5303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188 existing + 12 audit regressions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138160" y="393192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2,814</a:t>
            </a:r>
            <a:endParaRPr lang="en-US" sz="6000" dirty="0"/>
          </a:p>
        </p:txBody>
      </p:sp>
      <p:sp>
        <p:nvSpPr>
          <p:cNvPr id="19" name="Text 17"/>
          <p:cNvSpPr txBox="1"/>
          <p:nvPr/>
        </p:nvSpPr>
        <p:spPr>
          <a:xfrm>
            <a:off x="8138160" y="4937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SOP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8138160" y="5303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PARSER_SOP.md, audited vs. code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48640" y="566928"/>
            <a:ext cx="182880" cy="1828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36576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each command gets parsed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9601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commands.yaml picks a strategy per platform + command; anything unregistered is auto-discovered</a:t>
            </a:r>
            <a:endParaRPr lang="en-US" sz="15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554480"/>
          <a:ext cx="512064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035040" y="164592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Unregistered command? Auto-discovery: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035040" y="2240280"/>
            <a:ext cx="5577840" cy="82296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17920" y="242316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21792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6858000" y="23500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NTC Templates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6858000" y="26700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the reconstructed command string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035040" y="3200400"/>
            <a:ext cx="5577840" cy="82296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217920" y="338328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21792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6858000" y="33101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 TextFSM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6858000" y="36301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{platform}_{cmd}.textfsm anywhere in templates/custom/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035040" y="4160520"/>
            <a:ext cx="5577840" cy="82296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217920" y="434340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21792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6858000" y="42702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 TTP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6858000" y="459028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{platform}_{cmd}.ttp anywhere in templates/ttp/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6035040" y="5120640"/>
            <a:ext cx="5577840" cy="82296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217920" y="5303520"/>
            <a:ext cx="457200" cy="45720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217920" y="5303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6858000" y="52303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no_template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6858000" y="55504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text preserved — never lost</a:t>
            </a:r>
            <a:endParaRPr lang="en-US" sz="1250" dirty="0"/>
          </a:p>
        </p:txBody>
      </p:sp>
      <p:sp>
        <p:nvSpPr>
          <p:cNvPr id="28" name="Text 25"/>
          <p:cNvSpPr txBox="1"/>
          <p:nvPr/>
        </p:nvSpPr>
        <p:spPr>
          <a:xfrm>
            <a:off x="6035040" y="61264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a correctly named template file in and it's picked up — no YAML edit needed.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48640" y="566928"/>
            <a:ext cx="182880" cy="1828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36576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commands.yaml and wildcard keys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9601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entry covers every IP, interface or VRF variant of a command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852160" cy="3749040"/>
          </a:xfrm>
          <a:prstGeom prst="roundRect">
            <a:avLst>
              <a:gd name="adj" fmla="val 2439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783080"/>
            <a:ext cx="53949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cisco_nxos: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show ip bgp summary vrf all: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parser: ttp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template: cisco_nxos_show_ip_bgp_summary_vrf_all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one entry, any neighbor IP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show ip bgp neighbors * routes: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parser: ttp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template: cisco_nxos_show_ip_bgp_neighbors_routes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show logging last 100: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parser: raw_only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12280" y="1755648"/>
            <a:ext cx="146304" cy="14630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32320" y="1645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beats wildcard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7132320" y="202996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specific entry always wins over a * entry.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812280" y="2871216"/>
            <a:ext cx="146304" cy="14630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132320" y="27614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= exactly one token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7132320" y="3145536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10.0.0.1 or gi1/0/1 — but not '... vrf all' or a '| include' suffix.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812280" y="3986784"/>
            <a:ext cx="146304" cy="14630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132320" y="387705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sent by collect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7132320" y="4261104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can't run a literal * on a device; wildcards only parse existing output.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812280" y="5102352"/>
            <a:ext cx="146304" cy="14630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132320" y="499262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Repeats inherit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7132320" y="5376672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capture is stored as cmd__2 and uses cmd's parser.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48640" y="566928"/>
            <a:ext cx="182880" cy="1828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36576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 TTP templates across 7 feature areas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9601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template ships with a raw sample and its expected JSON under data/reference/</a:t>
            </a:r>
            <a:endParaRPr lang="en-US" sz="15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508760"/>
          <a:ext cx="731520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138160" y="1645920"/>
            <a:ext cx="3474720" cy="4480560"/>
          </a:xfrm>
          <a:prstGeom prst="roundRect">
            <a:avLst>
              <a:gd name="adj" fmla="val 3158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412480" y="1874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TTP?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8412480" y="2377440"/>
            <a:ext cx="30175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output (VRF → neighbors → OIFs) maps directly to JSON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these 97 new commands had NTC coverage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template validated against its reference sample — zero warnings, zero drift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48640" y="566928"/>
            <a:ext cx="182880" cy="1828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36576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analysis vs. a full audit command set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9601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features.csv from the net_audit.py project: every command a real audit runs, per platform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69494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828800"/>
                <a:gridCol w="1828800"/>
                <a:gridCol w="18288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Commands audited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Have NTC template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parser at all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IOS-XE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NX-OS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IOS-XR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  (out of scope)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8138160" y="15544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356</a:t>
            </a:r>
            <a:endParaRPr lang="en-US" sz="6000" dirty="0"/>
          </a:p>
        </p:txBody>
      </p:sp>
      <p:sp>
        <p:nvSpPr>
          <p:cNvPr id="8" name="Text 5"/>
          <p:cNvSpPr txBox="1"/>
          <p:nvPr/>
        </p:nvSpPr>
        <p:spPr>
          <a:xfrm>
            <a:off x="8138160" y="25603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command/platform combos with no parser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138160" y="347472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</a:t>
            </a:r>
            <a:endParaRPr lang="en-US" sz="6000" dirty="0"/>
          </a:p>
        </p:txBody>
      </p:sp>
      <p:sp>
        <p:nvSpPr>
          <p:cNvPr id="10" name="Text 7"/>
          <p:cNvSpPr txBox="1"/>
          <p:nvPr/>
        </p:nvSpPr>
        <p:spPr>
          <a:xfrm>
            <a:off x="8138160" y="448056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highest-value gaps closed this session (routing adjacency, FHRP, STP, vPC, multicast)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457200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Prioritised by what health checks actually assert on; remaining gaps parse as raw text until a template is added.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48640" y="566928"/>
            <a:ext cx="182880" cy="1828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36576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checks: 35 conditions in YAML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9601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check resolves a path into the snapshot and applies a condition to every value it finds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78308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1828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645920" y="2221992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 ne gt gte lt lte — numeric-aware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297680" y="160020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26280" y="178308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5394960" y="1828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&amp; regex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5394960" y="2221992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contains, not_contains, matches, one_of, not_one_of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46720" y="160020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75320" y="178308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0" y="1828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0" y="2221992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'5w2d', '00:03:42' compared as seconds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320040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338328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400" dirty="0"/>
          </a:p>
        </p:txBody>
      </p:sp>
      <p:sp>
        <p:nvSpPr>
          <p:cNvPr id="20" name="Text 18"/>
          <p:cNvSpPr txBox="1"/>
          <p:nvPr/>
        </p:nvSpPr>
        <p:spPr>
          <a:xfrm>
            <a:off x="1645920" y="3429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1645920" y="3822192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/ after / within N days / older than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297680" y="320040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26280" y="338328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400" dirty="0"/>
          </a:p>
        </p:txBody>
      </p:sp>
      <p:sp>
        <p:nvSpPr>
          <p:cNvPr id="24" name="Text 22"/>
          <p:cNvSpPr txBox="1"/>
          <p:nvPr/>
        </p:nvSpPr>
        <p:spPr>
          <a:xfrm>
            <a:off x="5394960" y="3429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5394960" y="3822192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len_eq … len_lte on strings and lists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046720" y="320040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75320" y="338328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400" dirty="0"/>
          </a:p>
        </p:txBody>
      </p:sp>
      <p:sp>
        <p:nvSpPr>
          <p:cNvPr id="28" name="Text 26"/>
          <p:cNvSpPr txBox="1"/>
          <p:nvPr/>
        </p:nvSpPr>
        <p:spPr>
          <a:xfrm>
            <a:off x="9144000" y="3429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diff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9144000" y="3822192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or % change vs. a previous snapshot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4892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features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48640" y="5349240"/>
            <a:ext cx="1545336" cy="384048"/>
          </a:xfrm>
          <a:prstGeom prst="roundRect">
            <a:avLst>
              <a:gd name="adj" fmla="val 50000"/>
            </a:avLst>
          </a:prstGeom>
          <a:solidFill>
            <a:srgbClr val="E7F8F1"/>
          </a:solidFill>
          <a:ln w="12700">
            <a:solidFill>
              <a:srgbClr val="E7F8F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48640" y="5349240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conditions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2231136" y="534924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E7F8F1"/>
          </a:solidFill>
          <a:ln w="12700">
            <a:solidFill>
              <a:srgbClr val="E7F8F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231136" y="53492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if/elif branches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4105656" y="5349240"/>
            <a:ext cx="1257300" cy="384048"/>
          </a:xfrm>
          <a:prstGeom prst="roundRect">
            <a:avLst>
              <a:gd name="adj" fmla="val 50000"/>
            </a:avLst>
          </a:prstGeom>
          <a:solidFill>
            <a:srgbClr val="E7F8F1"/>
          </a:solidFill>
          <a:ln w="12700">
            <a:solidFill>
              <a:srgbClr val="E7F8F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105656" y="5349240"/>
            <a:ext cx="12573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cross_check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5500116" y="5349240"/>
            <a:ext cx="681228" cy="384048"/>
          </a:xfrm>
          <a:prstGeom prst="roundRect">
            <a:avLst>
              <a:gd name="adj" fmla="val 50000"/>
            </a:avLst>
          </a:prstGeom>
          <a:solidFill>
            <a:srgbClr val="E7F8F1"/>
          </a:solidFill>
          <a:ln w="12700">
            <a:solidFill>
              <a:srgbClr val="E7F8F1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500116" y="5349240"/>
            <a:ext cx="6812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6318504" y="534924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E7F8F1"/>
          </a:solidFill>
          <a:ln w="12700">
            <a:solidFill>
              <a:srgbClr val="E7F8F1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318504" y="53492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compare_baseline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8193024" y="5349240"/>
            <a:ext cx="969264" cy="384048"/>
          </a:xfrm>
          <a:prstGeom prst="roundRect">
            <a:avLst>
              <a:gd name="adj" fmla="val 50000"/>
            </a:avLst>
          </a:prstGeom>
          <a:solidFill>
            <a:srgbClr val="E7F8F1"/>
          </a:solidFill>
          <a:ln w="12700">
            <a:solidFill>
              <a:srgbClr val="E7F8F1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193024" y="5349240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9299448" y="5349240"/>
            <a:ext cx="873252" cy="384048"/>
          </a:xfrm>
          <a:prstGeom prst="roundRect">
            <a:avLst>
              <a:gd name="adj" fmla="val 50000"/>
            </a:avLst>
          </a:prstGeom>
          <a:solidFill>
            <a:srgbClr val="E7F8F1"/>
          </a:solidFill>
          <a:ln w="12700">
            <a:solidFill>
              <a:srgbClr val="E7F8F1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299448" y="5349240"/>
            <a:ext cx="8732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skip_if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10309860" y="5349240"/>
            <a:ext cx="585216" cy="384048"/>
          </a:xfrm>
          <a:prstGeom prst="roundRect">
            <a:avLst>
              <a:gd name="adj" fmla="val 50000"/>
            </a:avLst>
          </a:prstGeom>
          <a:solidFill>
            <a:srgbClr val="E7F8F1"/>
          </a:solidFill>
          <a:ln w="12700">
            <a:solidFill>
              <a:srgbClr val="E7F8F1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10309860" y="5349240"/>
            <a:ext cx="585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</a:t>
            </a:r>
            <a:endParaRPr lang="en-US" sz="1250" dirty="0"/>
          </a:p>
        </p:txBody>
      </p:sp>
      <p:sp>
        <p:nvSpPr>
          <p:cNvPr id="47" name="Shape 45"/>
          <p:cNvSpPr/>
          <p:nvPr/>
        </p:nvSpPr>
        <p:spPr>
          <a:xfrm>
            <a:off x="548640" y="5852160"/>
            <a:ext cx="969264" cy="384048"/>
          </a:xfrm>
          <a:prstGeom prst="roundRect">
            <a:avLst>
              <a:gd name="adj" fmla="val 50000"/>
            </a:avLst>
          </a:prstGeom>
          <a:solidFill>
            <a:srgbClr val="E7F8F1"/>
          </a:solidFill>
          <a:ln w="12700">
            <a:solidFill>
              <a:srgbClr val="E7F8F1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548640" y="5852160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</a:t>
            </a:r>
            <a:endParaRPr lang="en-US" sz="1250" dirty="0"/>
          </a:p>
        </p:txBody>
      </p:sp>
      <p:sp>
        <p:nvSpPr>
          <p:cNvPr id="49" name="Shape 47"/>
          <p:cNvSpPr/>
          <p:nvPr/>
        </p:nvSpPr>
        <p:spPr>
          <a:xfrm>
            <a:off x="1655064" y="5852160"/>
            <a:ext cx="1161288" cy="384048"/>
          </a:xfrm>
          <a:prstGeom prst="roundRect">
            <a:avLst>
              <a:gd name="adj" fmla="val 50000"/>
            </a:avLst>
          </a:prstGeom>
          <a:solidFill>
            <a:srgbClr val="E7F8F1"/>
          </a:solidFill>
          <a:ln w="12700">
            <a:solidFill>
              <a:srgbClr val="E7F8F1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1655064" y="5852160"/>
            <a:ext cx="1161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match: any</a:t>
            </a:r>
            <a:endParaRPr lang="en-US" sz="1250" dirty="0"/>
          </a:p>
        </p:txBody>
      </p:sp>
      <p:sp>
        <p:nvSpPr>
          <p:cNvPr id="51" name="Shape 49"/>
          <p:cNvSpPr/>
          <p:nvPr/>
        </p:nvSpPr>
        <p:spPr>
          <a:xfrm>
            <a:off x="2953512" y="5852160"/>
            <a:ext cx="1641348" cy="384048"/>
          </a:xfrm>
          <a:prstGeom prst="roundRect">
            <a:avLst>
              <a:gd name="adj" fmla="val 50000"/>
            </a:avLst>
          </a:prstGeom>
          <a:solidFill>
            <a:srgbClr val="E7F8F1"/>
          </a:solidFill>
          <a:ln w="12700">
            <a:solidFill>
              <a:srgbClr val="E7F8F1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2953512" y="5852160"/>
            <a:ext cx="16413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templates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48640" y="566928"/>
            <a:ext cx="182880" cy="1828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36576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check, from YAML to verdict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669280" cy="3017520"/>
          </a:xfrm>
          <a:prstGeom prst="roundRect">
            <a:avLst>
              <a:gd name="adj" fmla="val 3030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554480"/>
            <a:ext cx="52120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name: "All OSPF neighbors in FULL state"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command: show_ip_ospf_neighbors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path: "neighbors[*].state"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condition: matches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value: "^FULL"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severity: critical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tags: [ospf, routing]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92240" y="1371600"/>
            <a:ext cx="5120640" cy="3017520"/>
          </a:xfrm>
          <a:prstGeom prst="roundRect">
            <a:avLst>
              <a:gd name="adj" fmla="val 3030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20840" y="1554480"/>
            <a:ext cx="4663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[PASS ] Hostname is set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[FAIL ] All OSPF neighbors in FULL state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path:   neighbors[1].state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actual: 2WAY/DROTHER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[ERROR] VPC peer link status is up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Command 'show_vpc_brief' has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status 'no_template'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4828032"/>
            <a:ext cx="146304" cy="14630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47091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/ fail / error / skip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512064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= the check couldn't be evaluated (missing command, failed parse) — never silently green.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97680" y="4828032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0" y="47091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gates CI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512064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critical failures set exit code 1; warn and info are reported but don't block.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046720" y="4828032"/>
            <a:ext cx="146304" cy="14630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0" y="47091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Per-device overrides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512064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checks/devices/{hostname}.yaml replaces same-named default checks for one device.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48640" y="566928"/>
            <a:ext cx="182880" cy="1828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36576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self-contained HTML reports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9601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CDN, no server — one file you can email or attach to a ticket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8288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health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2402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624328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results, failure detail, raw CLI and browsable parsed JSON.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97680" y="160020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0" y="18288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dashboard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2402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 --report-mode simple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2624328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only: no raw output, IPs or config — safe to forward.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46720" y="160020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18288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matrix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22402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health-all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2624328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× device grid; click a cell to jump to that device.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84048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" y="4069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44805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delta / delta-all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4864608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Field-level changes between two snapshots, keyed by neighbor/address.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297680" y="384048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0" y="4069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0" y="44805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health-trend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0" y="4864608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Pass/fail per check across runs, with sparklines.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046720" y="384048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321040" y="4069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diff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8321040" y="44805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health-diff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8321040" y="4864608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regressed and what got fixed between two runs.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Redesigned this session: one unified panel per list with hairline dividers (instead of a stack of colour-edged cards), pill badges, and status colour used only where it carries meaning.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48640" y="566928"/>
            <a:ext cx="182880" cy="1828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36576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and CI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9601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run unattended every day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7373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playbook.py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240280"/>
            <a:ext cx="30175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CSV-driven step runner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{date}, {yesterday}, {timestamp} variables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on_failure hooks get the step name via $PB_NAME — safe from injection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 accepts yes/no/true/false/1/0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0" y="155448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0" y="17373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fetch_logs.py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240280"/>
            <a:ext cx="30175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SFTP pull of daily CLI dumps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Host-key verification and key/agent auth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Downloads to .part then renames — a dropped link never leaves a truncated file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filenames sanitised (no path traversal)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46720" y="155448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17373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report.py collect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2240280"/>
            <a:ext cx="30175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collection via netmiko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mode from existing .txt dumps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every registered command for the platform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cisco_nxos_ssh / cisco_ios / cisco_xe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074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Non-zero exit codes CI can gate on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4864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965960" y="54864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critical check fails or errors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172200" y="54864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delta-all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589520" y="54864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devices matched (nothing compared)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8978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965960" y="58978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match (exit 2 for an empty query)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172200" y="58978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health-diff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589520" y="58978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check regressed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175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session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319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built, what the audit found, how it was fixed — and what it taught us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48640" y="566928"/>
            <a:ext cx="182880" cy="1828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36576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timeline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2331720"/>
            <a:ext cx="10515600" cy="0"/>
          </a:xfrm>
          <a:prstGeom prst="line">
            <a:avLst/>
          </a:prstGeom>
          <a:noFill/>
          <a:ln w="381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130552"/>
            <a:ext cx="411480" cy="411480"/>
          </a:xfrm>
          <a:prstGeom prst="ellipse">
            <a:avLst/>
          </a:prstGeom>
          <a:solidFill>
            <a:srgbClr val="10B98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21305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83464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Multicast templates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56616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mroute, count, summary, PIM, MSDP across 3 platforms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560320" y="2130552"/>
            <a:ext cx="411480" cy="411480"/>
          </a:xfrm>
          <a:prstGeom prst="ellipse">
            <a:avLst/>
          </a:prstGeom>
          <a:solidFill>
            <a:srgbClr val="10B98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560320" y="21305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423160" y="283464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 audit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423160" y="356616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doc-vs-code mismatches fixed in PARSER_SOP.md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434840" y="2130552"/>
            <a:ext cx="411480" cy="411480"/>
          </a:xfrm>
          <a:prstGeom prst="ellipse">
            <a:avLst/>
          </a:prstGeom>
          <a:solidFill>
            <a:srgbClr val="10B98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434840" y="21305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297680" y="283464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 new templates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297680" y="356616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feature areas, built in parallel, each validated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09360" y="2130552"/>
            <a:ext cx="411480" cy="411480"/>
          </a:xfrm>
          <a:prstGeom prst="ellipse">
            <a:avLst/>
          </a:prstGeom>
          <a:solidFill>
            <a:srgbClr val="10B98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09360" y="21305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172200" y="283464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Cleanup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172200" y="356616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−1,700 lines of dead or duplicated code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183880" y="2130552"/>
            <a:ext cx="411480" cy="411480"/>
          </a:xfrm>
          <a:prstGeom prst="ellipse">
            <a:avLst/>
          </a:prstGeom>
          <a:solidFill>
            <a:srgbClr val="10B98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183880" y="21305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046720" y="283464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redesign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8046720" y="356616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panels, restrained colour, pill badges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0058400" y="2130552"/>
            <a:ext cx="411480" cy="411480"/>
          </a:xfrm>
          <a:prstGeom prst="ellipse">
            <a:avLst/>
          </a:prstGeom>
          <a:solidFill>
            <a:srgbClr val="F59E0B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058400" y="21305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9921240" y="283464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 audit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9921240" y="356616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+ code: 20+ issues found and fixed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48640" y="5212080"/>
            <a:ext cx="11064240" cy="1005840"/>
          </a:xfrm>
          <a:prstGeom prst="roundRect">
            <a:avLst>
              <a:gd name="adj" fmla="val 10909"/>
            </a:avLst>
          </a:prstGeom>
          <a:solidFill>
            <a:srgbClr val="E7F8F1"/>
          </a:solidFill>
          <a:ln w="12700">
            <a:solidFill>
              <a:srgbClr val="E7F8F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2960" y="53949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committed and pushed to main and claude/network-cli-parser-RSSqt; test suite grew 188 → 200 and stayed green throughout.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48640" y="566928"/>
            <a:ext cx="182880" cy="1828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36576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audit: what was wrong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9601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 templates checked for warnings, drift and shape bugs, then run on real dumps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993392"/>
            <a:ext cx="201168" cy="20116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88720" y="190195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row became a dict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37744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BGP summary &amp; OSPF neighbor templates: one neighbor → dict, 2+ → list. Health checks then matched nothing and passed.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172200" y="1645920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46520" y="1993392"/>
            <a:ext cx="201168" cy="20116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12280" y="190195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NX-OS mroute parsed nothing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812280" y="237744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were built from documentation samples; real N9K output differs. Rewritten, now identical to the proven parser.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3886200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233672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188720" y="414223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leaked between sections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461772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OSPF database-summary: process rows landed in the last area (18 instead of 7); Subtotal/Total double-counted.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172200" y="3886200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46520" y="4233672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12280" y="414223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escapes in 71 templates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6812280" y="461772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re("\d+") is an invalid Python escape — deprecated today, a hard error later. All doubled, output unchanged.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48640" y="566928"/>
            <a:ext cx="182880" cy="1828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36576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dive: the check that could never fail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9601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OSPF neighbor, stuck in INIT, checked with neighbors[*].state matches ^FULL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394960" cy="3840480"/>
          </a:xfrm>
          <a:prstGeom prst="roundRect">
            <a:avLst>
              <a:gd name="adj" fmla="val 2857"/>
            </a:avLst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828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2286000"/>
            <a:ext cx="4846320" cy="1325880"/>
          </a:xfrm>
          <a:prstGeom prst="roundRect">
            <a:avLst>
              <a:gd name="adj" fmla="val 6897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51560" y="2468880"/>
            <a:ext cx="4389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{"neighbors":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"neighbor_id": "10.0.2.2",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"state": "INIT/DROTHER"}}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7947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dict, not a list → [*] finds zero rows → "vacuously true" →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48056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6263640" y="1645920"/>
            <a:ext cx="5394960" cy="3840480"/>
          </a:xfrm>
          <a:prstGeom prst="roundRect">
            <a:avLst>
              <a:gd name="adj" fmla="val 2857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37960" y="1828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537960" y="2286000"/>
            <a:ext cx="4846320" cy="1325880"/>
          </a:xfrm>
          <a:prstGeom prst="roundRect">
            <a:avLst>
              <a:gd name="adj" fmla="val 6897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766560" y="2468880"/>
            <a:ext cx="4389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{"neighbors": [{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"neighbor_id": "10.0.2.2",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"state": "INIT/DROTHER"}]}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537960" y="37947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 list (group name="neighbors*") → one row evaluated →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537960" y="448056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36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7150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root cause, second instance: a command that failed to parse has no rows either — so its checks passed too. Both fixed: shape bug in the templates, and failed/no_template commands now report ERROR.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48640" y="566928"/>
            <a:ext cx="182880" cy="1828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36576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dive: real output beats documentation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9601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NX-OS show ip mroute — the template was built from Cisco doc samples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sample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5394960" cy="1097280"/>
          </a:xfrm>
          <a:prstGeom prst="roundRect">
            <a:avLst>
              <a:gd name="adj" fmla="val 8333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19456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(10.10.10.1/32, 225.1.1.1/32), ...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Vlan101, uptime: 03:16:40, pim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263640" y="16002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N9K output (data/raw)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63640" y="2011680"/>
            <a:ext cx="5394960" cy="1097280"/>
          </a:xfrm>
          <a:prstGeom prst="roundRect">
            <a:avLst>
              <a:gd name="adj" fmla="val 8333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92240" y="219456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(10.1.1.100,239.255.0.1/32), ...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Ethernet1/2, uptime: 5d14h, expires: 00:02:00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3375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space after the comma, and OIF lines carry expires: — so the template matched nothing and the shipped "Multicast routes present" check errored on every device.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20624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43891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51206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captures now byte-identical to the original hand-written parser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297680" y="420624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0" y="43891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pass · 3 fail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0" y="51206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TEST-N9K-2 — same as the original snapshots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046720" y="420624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21040" y="43891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8321040" y="51206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still unverified: NX-OS mroute count (no real capture)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48640" y="566928"/>
            <a:ext cx="182880" cy="1828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36576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audit: 11 confirmed bugs, all fixed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9601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reproduced before fixing; each now has a regression test</a:t>
            </a:r>
            <a:endParaRPr lang="en-US" sz="15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1600200"/>
                <a:gridCol w="4754880"/>
                <a:gridCol w="4297680"/>
              </a:tblGrid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delta.py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Lost OSPF neighbor on a shared VLAN reported as 'unchanged'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 key must be unique; prefer neighbor/address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health.py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on a failed parse passed vacuously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failed / no_template / raw_only → ERROR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health.py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'0' ne 0 was True (string vs int)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Numeric-aware eq / ne / one_of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health.py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ignored vanished peers; matched by list index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 rows by identity; report missing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splitter.py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Commands with ':' (IPv6) merged into previous output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 any non-pipe characters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splitter.py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Repeated command lost its parser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Stored as cmd__2, parsed like cmd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playbook.py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enabled=false still ran the step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 false / 0 / n / off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html_report.py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malformed check crashed the fleet report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Normalise severity; validate count: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report.py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for SW1 picked SW1_A's file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 hostname match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main.py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Filename 'x_...txt' wrote outside output dir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Guard the date directory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playbook.py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 name injectable into on_failure hook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Passed via $PB_NAME env var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6199632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49808" y="6144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920240" y="6199632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121408" y="6144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91840" y="6199632"/>
            <a:ext cx="128016" cy="128016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493008" y="6144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4754880" y="614476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Also: atomic SFTP downloads (.part + rename) and a dead TextFSM template removed.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48640" y="566928"/>
            <a:ext cx="182880" cy="1828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36576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Regressions I introduced — and caught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9601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explicit about these: two came from earlier in this same session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11064240" cy="1298448"/>
          </a:xfrm>
          <a:prstGeom prst="roundRect">
            <a:avLst>
              <a:gd name="adj" fmla="val 845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828800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88720" y="170992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Wildcard too narrow, then too wide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14884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[a-z0-9_]+ missed the dots in 10.0.0.1 → every BGP-neighbor wildcard fell through. The first fix, [^\s]+, then swallowed 'peer vrf all'. Final: [^_]+ — exactly one token.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503920" y="173736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by: the correctness audit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971800"/>
            <a:ext cx="11064240" cy="1298448"/>
          </a:xfrm>
          <a:prstGeom prst="roundRect">
            <a:avLst>
              <a:gd name="adj" fmla="val 845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3291840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188720" y="317296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NX-OS mroute templates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61188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Replacing the Python parser with TTP built on doc samples broke real-device parsing and the shipped multicast check.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503920" y="320040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by: end-to-end run on real dumps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434840"/>
            <a:ext cx="11064240" cy="1298448"/>
          </a:xfrm>
          <a:prstGeom prst="roundRect">
            <a:avLst>
              <a:gd name="adj" fmla="val 845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4754880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188720" y="463600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Filename hyphens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507492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wrote spanning_tree instead of spanning-tree in 57 filenames, breaking drop-in auto-discovery.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503920" y="46634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by: comparing names to normalize_command()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pattern: "it parses" is not "it's right". Every fix now ships with a test that fails if the bug returns.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48640" y="566928"/>
            <a:ext cx="182880" cy="1828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36576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TTP lessons worth knowing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9601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documented in PARSER_SOP.md §6.6–6.7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1645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Whitespace is flexible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02996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Spaces between {{ }} tags match any run of spaces.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834640"/>
            <a:ext cx="502920" cy="50292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788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start line per record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17296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alternate header lines merge records silently.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502920" cy="50292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3931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| inside re()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431596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TTP treats it as a filter separator.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5120640"/>
            <a:ext cx="502920" cy="50292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5120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1280160" y="5074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Wildcard = one token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545896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[^_]+, not [a-z0-9_]+ or [^\s]+.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172200" y="1691640"/>
            <a:ext cx="502920" cy="50292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17220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6903720" y="1645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Repeating rows need *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6903720" y="202996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neighbors* — or one row becomes a dict.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172200" y="2834640"/>
            <a:ext cx="502920" cy="50292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17220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6903720" y="2788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sibling sections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6903720" y="317296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_end_ on the terminating line.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6172200" y="3977640"/>
            <a:ext cx="502920" cy="50292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17220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6903720" y="3931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the backslash</a:t>
            </a:r>
            <a:endParaRPr lang="en-US" sz="1700" dirty="0"/>
          </a:p>
        </p:txBody>
      </p:sp>
      <p:sp>
        <p:nvSpPr>
          <p:cNvPr id="33" name="Text 31"/>
          <p:cNvSpPr txBox="1"/>
          <p:nvPr/>
        </p:nvSpPr>
        <p:spPr>
          <a:xfrm>
            <a:off x="6903720" y="431596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re("\\d+") — arguments are Python literals.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6172200" y="5074920"/>
            <a:ext cx="5440680" cy="1097280"/>
          </a:xfrm>
          <a:prstGeom prst="roundRect">
            <a:avLst>
              <a:gd name="adj" fmla="val 10000"/>
            </a:avLst>
          </a:prstGeom>
          <a:solidFill>
            <a:srgbClr val="E7F8F1"/>
          </a:solidFill>
          <a:ln w="12700">
            <a:solidFill>
              <a:srgbClr val="E7F8F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400800" y="521208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every template against real device output — documentation samples are not enough.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48640" y="566928"/>
            <a:ext cx="182880" cy="1828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36576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code: over-engineering audit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9601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Deleted or merged what nothing used — every cut verified by tests and a real pipeline run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2606040" cy="2743200"/>
          </a:xfrm>
          <a:prstGeom prst="roundRect">
            <a:avLst>
              <a:gd name="adj" fmla="val 421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8745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−1,373</a:t>
            </a:r>
            <a:endParaRPr lang="en-US" sz="38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743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build_ppt.py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2004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Orphaned script; undeclared deps (pptx, lxml)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64992" y="1645920"/>
            <a:ext cx="2606040" cy="2743200"/>
          </a:xfrm>
          <a:prstGeom prst="roundRect">
            <a:avLst>
              <a:gd name="adj" fmla="val 421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93592" y="18745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−219</a:t>
            </a:r>
            <a:endParaRPr lang="en-US" sz="3800" dirty="0"/>
          </a:p>
        </p:txBody>
      </p:sp>
      <p:sp>
        <p:nvSpPr>
          <p:cNvPr id="12" name="Text 10"/>
          <p:cNvSpPr txBox="1"/>
          <p:nvPr/>
        </p:nvSpPr>
        <p:spPr>
          <a:xfrm>
            <a:off x="3593592" y="2743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multicast_parser.py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593592" y="32004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Unused once multicast moved to TTP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81344" y="1645920"/>
            <a:ext cx="2606040" cy="2743200"/>
          </a:xfrm>
          <a:prstGeom prst="roundRect">
            <a:avLst>
              <a:gd name="adj" fmla="val 421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9944" y="18745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−63</a:t>
            </a:r>
            <a:endParaRPr lang="en-US" sz="3800" dirty="0"/>
          </a:p>
        </p:txBody>
      </p:sp>
      <p:sp>
        <p:nvSpPr>
          <p:cNvPr id="16" name="Text 14"/>
          <p:cNvSpPr txBox="1"/>
          <p:nvPr/>
        </p:nvSpPr>
        <p:spPr>
          <a:xfrm>
            <a:off x="6409944" y="2743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dedup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9944" y="32004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template lookup; ntc wrapper inlined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997696" y="1645920"/>
            <a:ext cx="2606040" cy="2743200"/>
          </a:xfrm>
          <a:prstGeom prst="roundRect">
            <a:avLst>
              <a:gd name="adj" fmla="val 421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226296" y="18745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−50</a:t>
            </a:r>
            <a:endParaRPr lang="en-US" sz="3800" dirty="0"/>
          </a:p>
        </p:txBody>
      </p:sp>
      <p:sp>
        <p:nvSpPr>
          <p:cNvPr id="20" name="Text 18"/>
          <p:cNvSpPr txBox="1"/>
          <p:nvPr/>
        </p:nvSpPr>
        <p:spPr>
          <a:xfrm>
            <a:off x="9226296" y="2743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header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9226296" y="32004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helper instead of 9 copy-pasted blocks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709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and deliberately kept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1206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optional netmiko import guard (collection really is optional), the per-type check functions (each has distinct logic), and the report renderers (already shared helpers).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48640" y="566928"/>
            <a:ext cx="182880" cy="1828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36576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limitations and next steps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440680" cy="4846320"/>
          </a:xfrm>
          <a:prstGeom prst="roundRect">
            <a:avLst>
              <a:gd name="adj" fmla="val 2264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673352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88720" y="157276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194560"/>
            <a:ext cx="48463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/ IOS-XE templates are validated against documentation-format samples only — all real dumps available were NX-OS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NX-OS show ip mroute count has no real capture yet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Hostnames that don't start with N9K/CSR/ISR/ASR and lack a version banner fall back to cisco_ios — pass --platform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IOS-XR is not a registered platform (24 audit commands with no parser)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72200" y="1371600"/>
            <a:ext cx="5440680" cy="4846320"/>
          </a:xfrm>
          <a:prstGeom prst="roundRect">
            <a:avLst>
              <a:gd name="adj" fmla="val 2264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673352"/>
            <a:ext cx="182880" cy="1828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12280" y="157276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2194560"/>
            <a:ext cx="48463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real IOS and IOS-XE output; add it to data/reference and re-run the template scan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remaining ~260 gaps, prioritised by which commands health checks assert 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template reference check in CI so a template can't drift from its sample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structured output (NX-OS | json-native, IOS-XE RESTCONF) where templates are fragile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18872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" y="118872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16736" y="118872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09344" y="118872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01952" y="118872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7373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9260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</a:t>
            </a:r>
            <a:endParaRPr lang="en-US" sz="52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8404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validated templates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29260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</a:t>
            </a:r>
            <a:endParaRPr lang="en-US" sz="520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38404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found and fixed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29260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520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38404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tests, all green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9098280" y="29260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−1.7k</a:t>
            </a:r>
            <a:endParaRPr lang="en-US" sz="5200" dirty="0"/>
          </a:p>
        </p:txBody>
      </p:sp>
      <p:sp>
        <p:nvSpPr>
          <p:cNvPr id="15" name="Text 13"/>
          <p:cNvSpPr txBox="1"/>
          <p:nvPr/>
        </p:nvSpPr>
        <p:spPr>
          <a:xfrm>
            <a:off x="9098280" y="38404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dead code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5394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reference: network_cli_parser/PARSER_SOP.md  ·  Regression tests: tests/test_audit_fixes.py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 CLI Parser — Toolchain, Coverage &amp; Audit</dc:title>
  <dc:subject>PptxGenJS Presentation</dc:subject>
  <dc:creator>PptxGenJS</dc:creator>
  <cp:lastModifiedBy>PptxGenJS</cp:lastModifiedBy>
  <cp:revision>1</cp:revision>
  <dcterms:created xsi:type="dcterms:W3CDTF">2026-09-28T12:23:07Z</dcterms:created>
  <dcterms:modified xsi:type="dcterms:W3CDTF">2026-09-28T12:23:07Z</dcterms:modified>
</cp:coreProperties>
</file>